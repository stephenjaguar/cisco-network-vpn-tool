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62" r:id="rId8"/>
    <p:sldId id="259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1365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61196" name="shape"/>
          <p:cNvSpPr txBox="1"/>
          <p:nvPr/>
        </p:nvSpPr>
        <p:spPr>
          <a:xfrm>
            <a:off x="777240" y="960120"/>
            <a:ext cx="1042416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3400" b="1">
                <a:solidFill>
                  <a:srgbClr val="FFFFFF"/>
                </a:solidFill>
              </a:rPr>
              <a:t>Cisco IOS Automation and IPSec VPN Planning</a:t>
            </a:r>
            <a:endParaRPr lang="en-US" sz="3400" b="1">
              <a:solidFill>
                <a:srgbClr val="FFFFFF"/>
              </a:solidFill>
            </a:endParaRPr>
          </a:p>
        </p:txBody>
      </p:sp>
      <p:sp>
        <p:nvSpPr>
          <p:cNvPr id="889304" name="shape"/>
          <p:cNvSpPr txBox="1"/>
          <p:nvPr/>
        </p:nvSpPr>
        <p:spPr>
          <a:xfrm>
            <a:off x="822960" y="1874519"/>
            <a:ext cx="978408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>
                <a:solidFill>
                  <a:srgbClr val="D7DEEA"/>
                </a:solidFill>
              </a:rPr>
              <a:t>Part 1: Flask + GNS3 switch automation</a:t>
            </a:r>
            <a:endParaRPr lang="en-US" sz="1800">
              <a:solidFill>
                <a:srgbClr val="D7DEEA"/>
              </a:solidFill>
            </a:endParaRPr>
          </a:p>
          <a:p>
            <a:pPr algn="l"/>
            <a:r>
              <a:rPr lang="en-US" sz="1800">
                <a:solidFill>
                  <a:srgbClr val="D7DEEA"/>
                </a:solidFill>
              </a:rPr>
              <a:t>Part 2: FortiGate-to-Palo Alto IPSec VPN automation plan</a:t>
            </a:r>
            <a:endParaRPr lang="en-US" sz="1800">
              <a:solidFill>
                <a:srgbClr val="D7DEEA"/>
              </a:solidFill>
            </a:endParaRPr>
          </a:p>
        </p:txBody>
      </p:sp>
      <p:sp>
        <p:nvSpPr>
          <p:cNvPr id="481172" name="shape"/>
          <p:cNvSpPr txBox="1"/>
          <p:nvPr/>
        </p:nvSpPr>
        <p:spPr>
          <a:xfrm>
            <a:off x="822960" y="598932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>
                <a:solidFill>
                  <a:srgbClr val="D7DEEA"/>
                </a:solidFill>
              </a:rPr>
              <a:t>Project Review Deck</a:t>
            </a:r>
            <a:endParaRPr lang="en-US" sz="1200">
              <a:solidFill>
                <a:srgbClr val="D7DEE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Review Agenda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2/18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315764" name="shape"/>
          <p:cNvSpPr txBox="1"/>
          <p:nvPr/>
        </p:nvSpPr>
        <p:spPr>
          <a:xfrm>
            <a:off x="914400" y="1417320"/>
            <a:ext cx="941832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000">
                <a:solidFill>
                  <a:srgbClr val="172033"/>
                </a:solidFill>
              </a:rPr>
              <a:t>1. Project objective and repository structure</a:t>
            </a:r>
            <a:endParaRPr lang="en-US" sz="2000">
              <a:solidFill>
                <a:srgbClr val="172033"/>
              </a:solidFill>
            </a:endParaRPr>
          </a:p>
          <a:p>
            <a:pPr algn="l"/>
            <a:r>
              <a:rPr lang="en-US" sz="2000">
                <a:solidFill>
                  <a:srgbClr val="172033"/>
                </a:solidFill>
              </a:rPr>
              <a:t>2. Part 1 architecture, topology, workflow, validation, and tests</a:t>
            </a:r>
            <a:endParaRPr lang="en-US" sz="2000">
              <a:solidFill>
                <a:srgbClr val="172033"/>
              </a:solidFill>
            </a:endParaRPr>
          </a:p>
          <a:p>
            <a:pPr algn="l"/>
            <a:r>
              <a:rPr lang="en-US" sz="2000">
                <a:solidFill>
                  <a:srgbClr val="172033"/>
                </a:solidFill>
              </a:rPr>
              <a:t>3. Part 2 VPN topology, parameters, APIs, automation flow, and alerts</a:t>
            </a:r>
            <a:endParaRPr lang="en-US" sz="2000">
              <a:solidFill>
                <a:srgbClr val="172033"/>
              </a:solidFill>
            </a:endParaRPr>
          </a:p>
          <a:p>
            <a:pPr algn="l"/>
            <a:r>
              <a:rPr lang="en-US" sz="2000">
                <a:solidFill>
                  <a:srgbClr val="172033"/>
                </a:solidFill>
              </a:rPr>
              <a:t>4. Evidence and final review summary</a:t>
            </a:r>
            <a:endParaRPr lang="en-US" sz="2000">
              <a:solidFill>
                <a:srgbClr val="172033"/>
              </a:solidFill>
            </a:endParaRPr>
          </a:p>
        </p:txBody>
      </p:sp>
      <p:sp>
        <p:nvSpPr>
          <p:cNvPr id="501454" name="shape"/>
          <p:cNvSpPr txBox="1"/>
          <p:nvPr/>
        </p:nvSpPr>
        <p:spPr>
          <a:xfrm>
            <a:off x="1055370" y="4005580"/>
            <a:ext cx="6949440" cy="1600200"/>
          </a:xfrm>
          <a:prstGeom prst="rect">
            <a:avLst/>
          </a:prstGeom>
          <a:solidFill>
            <a:srgbClr val="24496F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FFFFFF"/>
                </a:solidFill>
              </a:rPr>
              <a:t>Repository: /Users/thunder/Documents/Meli</a:t>
            </a:r>
            <a:endParaRPr lang="en-US" sz="1650">
              <a:solidFill>
                <a:srgbClr val="FFFFFF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FFFFFF"/>
                </a:solidFill>
              </a:rPr>
              <a:t>Evidence: README, setup guide, test plan, VPN plan, screenshots, CLI examples</a:t>
            </a:r>
            <a:endParaRPr lang="en-US" sz="1650">
              <a:solidFill>
                <a:srgbClr val="FFFFFF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FFFFFF"/>
                </a:solidFill>
              </a:rPr>
              <a:t>Current verification: 26 automated tests passing</a:t>
            </a:r>
            <a:endParaRPr lang="en-US" sz="16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65238" name="shape"/>
          <p:cNvSpPr txBox="1"/>
          <p:nvPr/>
        </p:nvSpPr>
        <p:spPr>
          <a:xfrm>
            <a:off x="822960" y="196596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4400" b="1">
                <a:solidFill>
                  <a:srgbClr val="FFFFFF"/>
                </a:solidFill>
              </a:rPr>
              <a:t>Part 1</a:t>
            </a:r>
            <a:endParaRPr lang="en-US" sz="4400" b="1">
              <a:solidFill>
                <a:srgbClr val="FFFFFF"/>
              </a:solidFill>
            </a:endParaRPr>
          </a:p>
        </p:txBody>
      </p:sp>
      <p:sp>
        <p:nvSpPr>
          <p:cNvPr id="741014" name="shape"/>
          <p:cNvSpPr txBox="1"/>
          <p:nvPr/>
        </p:nvSpPr>
        <p:spPr>
          <a:xfrm>
            <a:off x="868680" y="283464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000">
                <a:solidFill>
                  <a:srgbClr val="D7DEEA"/>
                </a:solidFill>
              </a:rPr>
              <a:t>Cisco IOS switch automation with Flask, GNS3, Netmiko, backup, and compliance validation</a:t>
            </a:r>
            <a:endParaRPr lang="en-US" sz="2000">
              <a:solidFill>
                <a:srgbClr val="D7DEEA"/>
              </a:solidFill>
            </a:endParaRPr>
          </a:p>
        </p:txBody>
      </p:sp>
      <p:sp>
        <p:nvSpPr>
          <p:cNvPr id="95454" name="shape"/>
          <p:cNvSpPr txBox="1"/>
          <p:nvPr/>
        </p:nvSpPr>
        <p:spPr>
          <a:xfrm>
            <a:off x="10652760" y="61722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100">
                <a:solidFill>
                  <a:srgbClr val="D7DEEA"/>
                </a:solidFill>
              </a:rPr>
              <a:t>3/18</a:t>
            </a:r>
            <a:endParaRPr lang="en-US" sz="1100">
              <a:solidFill>
                <a:srgbClr val="D7DEE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1 GNS3 Topology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5/18</a:t>
            </a:r>
            <a:endParaRPr lang="en-US" sz="1000">
              <a:solidFill>
                <a:srgbClr val="D7DEEA"/>
              </a:solidFill>
            </a:endParaRPr>
          </a:p>
        </p:txBody>
      </p:sp>
      <p:cxnSp>
        <p:nvCxnSpPr>
          <p:cNvPr id="9263" name="connector"/>
          <p:cNvCxnSpPr/>
          <p:nvPr/>
        </p:nvCxnSpPr>
        <p:spPr>
          <a:xfrm>
            <a:off x="2834640" y="2468880"/>
            <a:ext cx="1325879" cy="9144"/>
          </a:xfrm>
          <a:prstGeom prst="straightConnector1">
            <a:avLst/>
          </a:prstGeom>
          <a:ln w="19050">
            <a:solidFill>
              <a:srgbClr val="5C6678"/>
            </a:solidFill>
          </a:ln>
        </p:spPr>
      </p:cxnSp>
      <p:cxnSp>
        <p:nvCxnSpPr>
          <p:cNvPr id="419266" name="connector"/>
          <p:cNvCxnSpPr/>
          <p:nvPr/>
        </p:nvCxnSpPr>
        <p:spPr>
          <a:xfrm>
            <a:off x="6355080" y="2468880"/>
            <a:ext cx="1188719" cy="9144"/>
          </a:xfrm>
          <a:prstGeom prst="straightConnector1">
            <a:avLst/>
          </a:prstGeom>
          <a:ln w="19050">
            <a:solidFill>
              <a:srgbClr val="5C6678"/>
            </a:solidFill>
          </a:ln>
        </p:spPr>
      </p:cxnSp>
      <p:sp>
        <p:nvSpPr>
          <p:cNvPr id="846604" name="shape"/>
          <p:cNvSpPr txBox="1"/>
          <p:nvPr/>
        </p:nvSpPr>
        <p:spPr>
          <a:xfrm>
            <a:off x="640080" y="1920240"/>
            <a:ext cx="2194560" cy="1097280"/>
          </a:xfrm>
          <a:prstGeom prst="rect">
            <a:avLst/>
          </a:prstGeom>
          <a:solidFill>
            <a:srgbClr val="D9EAF7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Mac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Flask App</a:t>
            </a:r>
            <a:endParaRPr lang="en-US" sz="1500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http://127.0.0.1:5000</a:t>
            </a:r>
            <a:br>
              <a:rPr lang="en-US" sz="1500">
                <a:solidFill>
                  <a:srgbClr val="172033"/>
                </a:solidFill>
              </a:rPr>
            </a:br>
            <a:r>
              <a:rPr lang="en-US" sz="1500">
                <a:solidFill>
                  <a:srgbClr val="172033"/>
                </a:solidFill>
              </a:rPr>
              <a:t>local IP:192.168.31.75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353853" name="shape"/>
          <p:cNvSpPr txBox="1"/>
          <p:nvPr/>
        </p:nvSpPr>
        <p:spPr>
          <a:xfrm>
            <a:off x="4160520" y="1920240"/>
            <a:ext cx="2194560" cy="1097280"/>
          </a:xfrm>
          <a:prstGeom prst="rect">
            <a:avLst/>
          </a:prstGeom>
          <a:solidFill>
            <a:srgbClr val="F4F6F8"/>
          </a:solidFill>
          <a:ln w="9525">
            <a:solidFill>
              <a:srgbClr val="5C6678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GNS3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Cloud / NAT</a:t>
            </a:r>
            <a:endParaRPr lang="en-US" sz="1500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Management Path</a:t>
            </a:r>
            <a:br>
              <a:rPr lang="en-US" sz="1500">
                <a:solidFill>
                  <a:srgbClr val="172033"/>
                </a:solidFill>
              </a:rPr>
            </a:br>
            <a:r>
              <a:rPr lang="en-US" sz="1500">
                <a:solidFill>
                  <a:srgbClr val="172033"/>
                </a:solidFill>
              </a:rPr>
              <a:t>bridge:192.168.31.251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14584" name="shape"/>
          <p:cNvSpPr txBox="1"/>
          <p:nvPr/>
        </p:nvSpPr>
        <p:spPr>
          <a:xfrm>
            <a:off x="7543800" y="1600200"/>
            <a:ext cx="2743200" cy="1737360"/>
          </a:xfrm>
          <a:prstGeom prst="rect">
            <a:avLst/>
          </a:prstGeom>
          <a:solidFill>
            <a:srgbClr val="E2F0D9"/>
          </a:solidFill>
          <a:ln w="9525">
            <a:solidFill>
              <a:srgbClr val="548235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IOSvL2 Switch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SVI 192.168.31.50/24</a:t>
            </a:r>
            <a:endParaRPr lang="en-US" sz="1500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GW 192.168.31.1</a:t>
            </a:r>
            <a:endParaRPr lang="en-US" sz="1500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SSH TCP/22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778970" name="shape"/>
          <p:cNvSpPr txBox="1"/>
          <p:nvPr/>
        </p:nvSpPr>
        <p:spPr>
          <a:xfrm>
            <a:off x="685800" y="5532120"/>
            <a:ext cx="10789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13873" name="shape"/>
          <p:cNvSpPr txBox="1"/>
          <p:nvPr/>
        </p:nvSpPr>
        <p:spPr>
          <a:xfrm>
            <a:off x="914400" y="5678424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b="1">
                <a:solidFill>
                  <a:srgbClr val="172033"/>
                </a:solidFill>
              </a:rPr>
              <a:t>Takeaway: Netmiko mode depends on IP reachability and SSH availability before automation starts.</a:t>
            </a:r>
            <a:endParaRPr lang="en-US" sz="1200" b="1">
              <a:solidFill>
                <a:srgbClr val="172033"/>
              </a:solidFill>
            </a:endParaRPr>
          </a:p>
        </p:txBody>
      </p:sp>
      <p:sp>
        <p:nvSpPr>
          <p:cNvPr id="2" name="shape"/>
          <p:cNvSpPr txBox="1"/>
          <p:nvPr/>
        </p:nvSpPr>
        <p:spPr>
          <a:xfrm>
            <a:off x="767080" y="3644900"/>
            <a:ext cx="2903220" cy="1097280"/>
          </a:xfrm>
          <a:prstGeom prst="rect">
            <a:avLst/>
          </a:prstGeom>
          <a:solidFill>
            <a:srgbClr val="D9EAF7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500">
                <a:solidFill>
                  <a:srgbClr val="172033"/>
                </a:solidFill>
              </a:rPr>
              <a:t>Netmiko Brief Introduction</a:t>
            </a:r>
            <a:endParaRPr lang="en-US" sz="150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1 Automation Flow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6/18</a:t>
            </a:r>
            <a:endParaRPr lang="en-US" sz="1000">
              <a:solidFill>
                <a:srgbClr val="D7DEEA"/>
              </a:solidFill>
            </a:endParaRPr>
          </a:p>
        </p:txBody>
      </p:sp>
      <p:cxnSp>
        <p:nvCxnSpPr>
          <p:cNvPr id="342904" name="connector"/>
          <p:cNvCxnSpPr/>
          <p:nvPr/>
        </p:nvCxnSpPr>
        <p:spPr>
          <a:xfrm>
            <a:off x="2103120" y="2468880"/>
            <a:ext cx="228600" cy="9144"/>
          </a:xfrm>
          <a:prstGeom prst="straightConnector1">
            <a:avLst/>
          </a:prstGeom>
          <a:ln w="19050">
            <a:solidFill>
              <a:srgbClr val="2F5597"/>
            </a:solidFill>
          </a:ln>
        </p:spPr>
      </p:cxnSp>
      <p:cxnSp>
        <p:nvCxnSpPr>
          <p:cNvPr id="2207" name="connector"/>
          <p:cNvCxnSpPr/>
          <p:nvPr/>
        </p:nvCxnSpPr>
        <p:spPr>
          <a:xfrm>
            <a:off x="3931920" y="2468880"/>
            <a:ext cx="228600" cy="9144"/>
          </a:xfrm>
          <a:prstGeom prst="straightConnector1">
            <a:avLst/>
          </a:prstGeom>
          <a:ln w="19050">
            <a:solidFill>
              <a:srgbClr val="2F5597"/>
            </a:solidFill>
          </a:ln>
        </p:spPr>
      </p:cxnSp>
      <p:cxnSp>
        <p:nvCxnSpPr>
          <p:cNvPr id="652222" name="connector"/>
          <p:cNvCxnSpPr/>
          <p:nvPr/>
        </p:nvCxnSpPr>
        <p:spPr>
          <a:xfrm>
            <a:off x="5989320" y="2468880"/>
            <a:ext cx="274319" cy="9144"/>
          </a:xfrm>
          <a:prstGeom prst="straightConnector1">
            <a:avLst/>
          </a:prstGeom>
          <a:ln w="19050">
            <a:solidFill>
              <a:srgbClr val="2F5597"/>
            </a:solidFill>
          </a:ln>
        </p:spPr>
      </p:cxnSp>
      <p:cxnSp>
        <p:nvCxnSpPr>
          <p:cNvPr id="447996" name="connector"/>
          <p:cNvCxnSpPr/>
          <p:nvPr/>
        </p:nvCxnSpPr>
        <p:spPr>
          <a:xfrm>
            <a:off x="7863840" y="2468880"/>
            <a:ext cx="228600" cy="9144"/>
          </a:xfrm>
          <a:prstGeom prst="straightConnector1">
            <a:avLst/>
          </a:prstGeom>
          <a:ln w="19050">
            <a:solidFill>
              <a:srgbClr val="2F5597"/>
            </a:solidFill>
          </a:ln>
        </p:spPr>
      </p:cxnSp>
      <p:sp>
        <p:nvSpPr>
          <p:cNvPr id="53958" name="shape"/>
          <p:cNvSpPr txBox="1"/>
          <p:nvPr/>
        </p:nvSpPr>
        <p:spPr>
          <a:xfrm>
            <a:off x="502920" y="1920240"/>
            <a:ext cx="1600200" cy="1097280"/>
          </a:xfrm>
          <a:prstGeom prst="rect">
            <a:avLst/>
          </a:prstGeom>
          <a:solidFill>
            <a:srgbClr val="D9EAF7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1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Submit Flask form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431737" name="shape"/>
          <p:cNvSpPr txBox="1"/>
          <p:nvPr/>
        </p:nvSpPr>
        <p:spPr>
          <a:xfrm>
            <a:off x="2331720" y="1920240"/>
            <a:ext cx="1600200" cy="1097280"/>
          </a:xfrm>
          <a:prstGeom prst="rect">
            <a:avLst/>
          </a:prstGeom>
          <a:solidFill>
            <a:srgbClr val="D9EAF7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2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Create driver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128738" name="shape"/>
          <p:cNvSpPr txBox="1"/>
          <p:nvPr/>
        </p:nvSpPr>
        <p:spPr>
          <a:xfrm>
            <a:off x="4160520" y="1920240"/>
            <a:ext cx="1828800" cy="1097280"/>
          </a:xfrm>
          <a:prstGeom prst="rect">
            <a:avLst/>
          </a:prstGeom>
          <a:solidFill>
            <a:srgbClr val="D9EAF7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3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Push hostname + VLANs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525732" name="shape"/>
          <p:cNvSpPr txBox="1"/>
          <p:nvPr/>
        </p:nvSpPr>
        <p:spPr>
          <a:xfrm>
            <a:off x="6263640" y="1920240"/>
            <a:ext cx="1600200" cy="1097280"/>
          </a:xfrm>
          <a:prstGeom prst="rect">
            <a:avLst/>
          </a:prstGeom>
          <a:solidFill>
            <a:srgbClr val="D9EAF7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4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write memory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606826" name="shape"/>
          <p:cNvSpPr txBox="1"/>
          <p:nvPr/>
        </p:nvSpPr>
        <p:spPr>
          <a:xfrm>
            <a:off x="8092440" y="1920240"/>
            <a:ext cx="1828800" cy="1097280"/>
          </a:xfrm>
          <a:prstGeom prst="rect">
            <a:avLst/>
          </a:prstGeom>
          <a:solidFill>
            <a:srgbClr val="D9EAF7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5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Backup + validate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778970" name="shape"/>
          <p:cNvSpPr txBox="1"/>
          <p:nvPr/>
        </p:nvSpPr>
        <p:spPr>
          <a:xfrm>
            <a:off x="685800" y="5532120"/>
            <a:ext cx="10789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13873" name="shape"/>
          <p:cNvSpPr txBox="1"/>
          <p:nvPr/>
        </p:nvSpPr>
        <p:spPr>
          <a:xfrm>
            <a:off x="914400" y="5678424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b="1">
                <a:solidFill>
                  <a:srgbClr val="172033"/>
                </a:solidFill>
              </a:rPr>
              <a:t>Takeaway: The same workflow runs against the mock driver or a real GNS3 IOSvL2 SSH target.</a:t>
            </a:r>
            <a:endParaRPr lang="en-US" sz="1200" b="1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1 Configuration and Compliance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7/18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630632" name="shape"/>
          <p:cNvSpPr txBox="1"/>
          <p:nvPr/>
        </p:nvSpPr>
        <p:spPr>
          <a:xfrm>
            <a:off x="68580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06150" name="shape"/>
          <p:cNvSpPr txBox="1"/>
          <p:nvPr/>
        </p:nvSpPr>
        <p:spPr>
          <a:xfrm>
            <a:off x="68580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45311" name="shape"/>
          <p:cNvSpPr txBox="1"/>
          <p:nvPr/>
        </p:nvSpPr>
        <p:spPr>
          <a:xfrm>
            <a:off x="91440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Configuration Inputs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564539" name="shape"/>
          <p:cNvSpPr txBox="1"/>
          <p:nvPr/>
        </p:nvSpPr>
        <p:spPr>
          <a:xfrm>
            <a:off x="91440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Hostname defaults to AUTOMAT and can be submitted from the frontend.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Required VLANs: 10 VLAN_DATA, 20 VLAN_VOICE, 50 VLAN_SECURITY.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One optional additional VLAN can be pushed if it does not duplicate another VLAN ID.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148089" name="shape"/>
          <p:cNvSpPr txBox="1"/>
          <p:nvPr/>
        </p:nvSpPr>
        <p:spPr>
          <a:xfrm>
            <a:off x="608076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72571" name="shape"/>
          <p:cNvSpPr txBox="1"/>
          <p:nvPr/>
        </p:nvSpPr>
        <p:spPr>
          <a:xfrm>
            <a:off x="608076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28700" name="shape"/>
          <p:cNvSpPr txBox="1"/>
          <p:nvPr/>
        </p:nvSpPr>
        <p:spPr>
          <a:xfrm>
            <a:off x="630936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Compliance Checks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117889" name="shape"/>
          <p:cNvSpPr txBox="1"/>
          <p:nvPr/>
        </p:nvSpPr>
        <p:spPr>
          <a:xfrm>
            <a:off x="630936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Hostname is compared against the submitted frontend hostname.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VLAN 10/20/50 names are validated from show vlan brief output.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Optional additional VLAN is configured but not included in compliance scoring.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778970" name="shape"/>
          <p:cNvSpPr txBox="1"/>
          <p:nvPr/>
        </p:nvSpPr>
        <p:spPr>
          <a:xfrm>
            <a:off x="685800" y="5532120"/>
            <a:ext cx="10789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13873" name="shape"/>
          <p:cNvSpPr txBox="1"/>
          <p:nvPr/>
        </p:nvSpPr>
        <p:spPr>
          <a:xfrm>
            <a:off x="914400" y="5678424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b="1">
                <a:solidFill>
                  <a:srgbClr val="172033"/>
                </a:solidFill>
              </a:rPr>
              <a:t>Takeaway: Compliance is based on observed switch output, not only successful command submission.</a:t>
            </a:r>
            <a:endParaRPr lang="en-US" sz="1200" b="1">
              <a:solidFill>
                <a:srgbClr val="172033"/>
              </a:solidFill>
            </a:endParaRPr>
          </a:p>
        </p:txBody>
      </p:sp>
      <p:sp>
        <p:nvSpPr>
          <p:cNvPr id="2" name="shape"/>
          <p:cNvSpPr txBox="1"/>
          <p:nvPr/>
        </p:nvSpPr>
        <p:spPr>
          <a:xfrm>
            <a:off x="685800" y="5532120"/>
            <a:ext cx="10789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shape"/>
          <p:cNvSpPr txBox="1"/>
          <p:nvPr/>
        </p:nvSpPr>
        <p:spPr>
          <a:xfrm>
            <a:off x="914400" y="5678424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b="1">
                <a:solidFill>
                  <a:srgbClr val="172033"/>
                </a:solidFill>
              </a:rPr>
              <a:t>Takeaway: Compliance is based on observed switch output, not only successful command submission.</a:t>
            </a:r>
            <a:endParaRPr lang="en-US" sz="1200" b="1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1 Architecture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4/18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630632" name="shape"/>
          <p:cNvSpPr txBox="1"/>
          <p:nvPr/>
        </p:nvSpPr>
        <p:spPr>
          <a:xfrm>
            <a:off x="68580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06150" name="shape"/>
          <p:cNvSpPr txBox="1"/>
          <p:nvPr/>
        </p:nvSpPr>
        <p:spPr>
          <a:xfrm>
            <a:off x="68580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45311" name="shape"/>
          <p:cNvSpPr txBox="1"/>
          <p:nvPr/>
        </p:nvSpPr>
        <p:spPr>
          <a:xfrm>
            <a:off x="91440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Runtime Components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564539" name="shape"/>
          <p:cNvSpPr txBox="1"/>
          <p:nvPr/>
        </p:nvSpPr>
        <p:spPr>
          <a:xfrm>
            <a:off x="91440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main.py handles Flask routes, form parsing, and workflow orchestration.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templates/index.html provides the browser UI.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driver.py exposes MockSwitchDriver and NetmikoSwitchDriver.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148089" name="shape"/>
          <p:cNvSpPr txBox="1"/>
          <p:nvPr/>
        </p:nvSpPr>
        <p:spPr>
          <a:xfrm>
            <a:off x="608076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72571" name="shape"/>
          <p:cNvSpPr txBox="1"/>
          <p:nvPr/>
        </p:nvSpPr>
        <p:spPr>
          <a:xfrm>
            <a:off x="608076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28700" name="shape"/>
          <p:cNvSpPr txBox="1"/>
          <p:nvPr/>
        </p:nvSpPr>
        <p:spPr>
          <a:xfrm>
            <a:off x="630936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Control Outputs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117889" name="shape"/>
          <p:cNvSpPr txBox="1"/>
          <p:nvPr/>
        </p:nvSpPr>
        <p:spPr>
          <a:xfrm>
            <a:off x="630936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validator.py compares observed switch output with intended state.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backups/ stores timestamped running-config files.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demoresult/ stores Part 1 screenshot evidence.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778970" name="shape"/>
          <p:cNvSpPr txBox="1"/>
          <p:nvPr/>
        </p:nvSpPr>
        <p:spPr>
          <a:xfrm>
            <a:off x="685800" y="5532120"/>
            <a:ext cx="10789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13873" name="shape"/>
          <p:cNvSpPr txBox="1"/>
          <p:nvPr/>
        </p:nvSpPr>
        <p:spPr>
          <a:xfrm>
            <a:off x="914400" y="5678424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b="1">
                <a:solidFill>
                  <a:srgbClr val="172033"/>
                </a:solidFill>
              </a:rPr>
              <a:t>Takeaway: The UI, device driver, validation, and backup responsibilities are separated cleanly.</a:t>
            </a:r>
            <a:endParaRPr lang="en-US" sz="1200" b="1">
              <a:solidFill>
                <a:srgbClr val="172033"/>
              </a:solidFill>
            </a:endParaRPr>
          </a:p>
        </p:txBody>
      </p:sp>
      <p:sp>
        <p:nvSpPr>
          <p:cNvPr id="2" name="shape"/>
          <p:cNvSpPr txBox="1"/>
          <p:nvPr/>
        </p:nvSpPr>
        <p:spPr>
          <a:xfrm>
            <a:off x="685800" y="5532120"/>
            <a:ext cx="10789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shape"/>
          <p:cNvSpPr txBox="1"/>
          <p:nvPr/>
        </p:nvSpPr>
        <p:spPr>
          <a:xfrm>
            <a:off x="914400" y="5678424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b="1">
                <a:solidFill>
                  <a:srgbClr val="172033"/>
                </a:solidFill>
              </a:rPr>
              <a:t>Takeaway: The UI, device driver, validation, and backup responsibilities are separated cleanly.</a:t>
            </a:r>
            <a:endParaRPr lang="en-US" sz="1200" b="1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1 Netmiko and Reliability Controls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8/18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630632" name="shape"/>
          <p:cNvSpPr txBox="1"/>
          <p:nvPr/>
        </p:nvSpPr>
        <p:spPr>
          <a:xfrm>
            <a:off x="68580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06150" name="shape"/>
          <p:cNvSpPr txBox="1"/>
          <p:nvPr/>
        </p:nvSpPr>
        <p:spPr>
          <a:xfrm>
            <a:off x="68580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45311" name="shape"/>
          <p:cNvSpPr txBox="1"/>
          <p:nvPr/>
        </p:nvSpPr>
        <p:spPr>
          <a:xfrm>
            <a:off x="91440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Connection Behavior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564539" name="shape"/>
          <p:cNvSpPr txBox="1"/>
          <p:nvPr/>
        </p:nvSpPr>
        <p:spPr>
          <a:xfrm>
            <a:off x="91440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Device type is cisco_ios.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conn_timeout, auth_timeout, and banner_timeout are 15 seconds.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read_timeout is 60 seconds for config and show commands.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148089" name="shape"/>
          <p:cNvSpPr txBox="1"/>
          <p:nvPr/>
        </p:nvSpPr>
        <p:spPr>
          <a:xfrm>
            <a:off x="608076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72571" name="shape"/>
          <p:cNvSpPr txBox="1"/>
          <p:nvPr/>
        </p:nvSpPr>
        <p:spPr>
          <a:xfrm>
            <a:off x="608076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28700" name="shape"/>
          <p:cNvSpPr txBox="1"/>
          <p:nvPr/>
        </p:nvSpPr>
        <p:spPr>
          <a:xfrm>
            <a:off x="630936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Prompt Handling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117889" name="shape"/>
          <p:cNvSpPr txBox="1"/>
          <p:nvPr/>
        </p:nvSpPr>
        <p:spPr>
          <a:xfrm>
            <a:off x="630936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Generic IOS prompt pattern [&gt;#] avoids hostname-specific prompt failures.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Hostname changes disable command verification.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Base prompt is refreshed after hostname changes.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778970" name="shape"/>
          <p:cNvSpPr txBox="1"/>
          <p:nvPr/>
        </p:nvSpPr>
        <p:spPr>
          <a:xfrm>
            <a:off x="685800" y="5532120"/>
            <a:ext cx="10789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13873" name="shape"/>
          <p:cNvSpPr txBox="1"/>
          <p:nvPr/>
        </p:nvSpPr>
        <p:spPr>
          <a:xfrm>
            <a:off x="914400" y="5678424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b="1">
                <a:solidFill>
                  <a:srgbClr val="172033"/>
                </a:solidFill>
              </a:rPr>
              <a:t>Takeaway: These controls address common IOSvL2 SSH delays and prompt changes in GNS3.</a:t>
            </a:r>
            <a:endParaRPr lang="en-US" sz="1200" b="1">
              <a:solidFill>
                <a:srgbClr val="172033"/>
              </a:solidFill>
            </a:endParaRPr>
          </a:p>
        </p:txBody>
      </p:sp>
      <p:sp>
        <p:nvSpPr>
          <p:cNvPr id="2" name="shape"/>
          <p:cNvSpPr txBox="1"/>
          <p:nvPr/>
        </p:nvSpPr>
        <p:spPr>
          <a:xfrm>
            <a:off x="685800" y="5532120"/>
            <a:ext cx="10789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3" name="shape"/>
          <p:cNvSpPr txBox="1"/>
          <p:nvPr/>
        </p:nvSpPr>
        <p:spPr>
          <a:xfrm>
            <a:off x="914400" y="5678424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b="1">
                <a:solidFill>
                  <a:srgbClr val="172033"/>
                </a:solidFill>
              </a:rPr>
              <a:t>Takeaway: These controls address common IOSvL2 SSH delays and prompt changes in GNS3.</a:t>
            </a:r>
            <a:endParaRPr lang="en-US" sz="1200" b="1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1 Testing and Evidence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9/18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630632" name="shape"/>
          <p:cNvSpPr txBox="1"/>
          <p:nvPr/>
        </p:nvSpPr>
        <p:spPr>
          <a:xfrm>
            <a:off x="68580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06150" name="shape"/>
          <p:cNvSpPr txBox="1"/>
          <p:nvPr/>
        </p:nvSpPr>
        <p:spPr>
          <a:xfrm>
            <a:off x="68580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45311" name="shape"/>
          <p:cNvSpPr txBox="1"/>
          <p:nvPr/>
        </p:nvSpPr>
        <p:spPr>
          <a:xfrm>
            <a:off x="91440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Automated Testing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564539" name="shape"/>
          <p:cNvSpPr txBox="1"/>
          <p:nvPr/>
        </p:nvSpPr>
        <p:spPr>
          <a:xfrm>
            <a:off x="91440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pytest -q currently returns 26 passed.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Tests cover Flask UI flow, mock driver, validator behavior, Netmiko timeouts, and prompt handling.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Reachability helper tests verify ping and TCP checks.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148089" name="shape"/>
          <p:cNvSpPr txBox="1"/>
          <p:nvPr/>
        </p:nvSpPr>
        <p:spPr>
          <a:xfrm>
            <a:off x="608076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72571" name="shape"/>
          <p:cNvSpPr txBox="1"/>
          <p:nvPr/>
        </p:nvSpPr>
        <p:spPr>
          <a:xfrm>
            <a:off x="608076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28700" name="shape"/>
          <p:cNvSpPr txBox="1"/>
          <p:nvPr/>
        </p:nvSpPr>
        <p:spPr>
          <a:xfrm>
            <a:off x="630936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Demo Evidence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117889" name="shape"/>
          <p:cNvSpPr txBox="1"/>
          <p:nvPr/>
        </p:nvSpPr>
        <p:spPr>
          <a:xfrm>
            <a:off x="630936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demoresult/part1screenshot.md indexes screenshots.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Screenshots cover frontend, switch CLI, validation alerts, compliance, and backup evidence.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PART1_FLASK_GNS3_SETUP.md documents the GNS3 setup path.</a:t>
            </a:r>
            <a:endParaRPr lang="en-US" sz="165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65238" name="shape"/>
          <p:cNvSpPr txBox="1"/>
          <p:nvPr/>
        </p:nvSpPr>
        <p:spPr>
          <a:xfrm>
            <a:off x="822960" y="1965960"/>
            <a:ext cx="9875520" cy="8229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4400" b="1">
                <a:solidFill>
                  <a:srgbClr val="FFFFFF"/>
                </a:solidFill>
              </a:rPr>
              <a:t>Part 2</a:t>
            </a:r>
            <a:endParaRPr lang="en-US" sz="4400" b="1">
              <a:solidFill>
                <a:srgbClr val="FFFFFF"/>
              </a:solidFill>
            </a:endParaRPr>
          </a:p>
        </p:txBody>
      </p:sp>
      <p:sp>
        <p:nvSpPr>
          <p:cNvPr id="741014" name="shape"/>
          <p:cNvSpPr txBox="1"/>
          <p:nvPr/>
        </p:nvSpPr>
        <p:spPr>
          <a:xfrm>
            <a:off x="868680" y="2834640"/>
            <a:ext cx="9692640" cy="7315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2000">
                <a:solidFill>
                  <a:srgbClr val="D7DEEA"/>
                </a:solidFill>
              </a:rPr>
              <a:t>FortiGate-to-Palo Alto IPSec VPN automation planning with parameters, APIs, validation, and alerts</a:t>
            </a:r>
            <a:endParaRPr lang="en-US" sz="2000">
              <a:solidFill>
                <a:srgbClr val="D7DEEA"/>
              </a:solidFill>
            </a:endParaRPr>
          </a:p>
        </p:txBody>
      </p:sp>
      <p:sp>
        <p:nvSpPr>
          <p:cNvPr id="95454" name="shape"/>
          <p:cNvSpPr txBox="1"/>
          <p:nvPr/>
        </p:nvSpPr>
        <p:spPr>
          <a:xfrm>
            <a:off x="10652760" y="61722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100">
                <a:solidFill>
                  <a:srgbClr val="D7DEEA"/>
                </a:solidFill>
              </a:rPr>
              <a:t>10/18</a:t>
            </a:r>
            <a:endParaRPr lang="en-US" sz="1100">
              <a:solidFill>
                <a:srgbClr val="D7DEE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2 VPN Topology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11/18</a:t>
            </a:r>
            <a:endParaRPr lang="en-US" sz="1000">
              <a:solidFill>
                <a:srgbClr val="D7DEEA"/>
              </a:solidFill>
            </a:endParaRPr>
          </a:p>
        </p:txBody>
      </p:sp>
      <p:cxnSp>
        <p:nvCxnSpPr>
          <p:cNvPr id="275493" name="connector"/>
          <p:cNvCxnSpPr/>
          <p:nvPr/>
        </p:nvCxnSpPr>
        <p:spPr>
          <a:xfrm>
            <a:off x="3337560" y="2423160"/>
            <a:ext cx="731520" cy="9144"/>
          </a:xfrm>
          <a:prstGeom prst="straightConnector1">
            <a:avLst/>
          </a:prstGeom>
          <a:ln w="19050">
            <a:solidFill>
              <a:srgbClr val="5C6678"/>
            </a:solidFill>
          </a:ln>
        </p:spPr>
      </p:cxnSp>
      <p:cxnSp>
        <p:nvCxnSpPr>
          <p:cNvPr id="51191" name="connector"/>
          <p:cNvCxnSpPr/>
          <p:nvPr/>
        </p:nvCxnSpPr>
        <p:spPr>
          <a:xfrm>
            <a:off x="6812280" y="2423160"/>
            <a:ext cx="731519" cy="9144"/>
          </a:xfrm>
          <a:prstGeom prst="straightConnector1">
            <a:avLst/>
          </a:prstGeom>
          <a:ln w="19050">
            <a:solidFill>
              <a:srgbClr val="5C6678"/>
            </a:solidFill>
          </a:ln>
        </p:spPr>
      </p:cxnSp>
      <p:sp>
        <p:nvSpPr>
          <p:cNvPr id="374307" name="shape"/>
          <p:cNvSpPr txBox="1"/>
          <p:nvPr/>
        </p:nvSpPr>
        <p:spPr>
          <a:xfrm>
            <a:off x="594360" y="1691640"/>
            <a:ext cx="2743200" cy="1508760"/>
          </a:xfrm>
          <a:prstGeom prst="rect">
            <a:avLst/>
          </a:prstGeom>
          <a:solidFill>
            <a:srgbClr val="FCE4D6"/>
          </a:solidFill>
          <a:ln w="9525">
            <a:solidFill>
              <a:srgbClr val="C55A11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FortiGate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FGT-BRANCH</a:t>
            </a:r>
            <a:endParaRPr lang="en-US" sz="1500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WAN 198.51.100.10</a:t>
            </a:r>
            <a:endParaRPr lang="en-US" sz="1500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LAN 10.10.10.0/24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396354" name="shape"/>
          <p:cNvSpPr txBox="1"/>
          <p:nvPr/>
        </p:nvSpPr>
        <p:spPr>
          <a:xfrm>
            <a:off x="4069080" y="1783080"/>
            <a:ext cx="2743200" cy="1325880"/>
          </a:xfrm>
          <a:prstGeom prst="rect">
            <a:avLst/>
          </a:prstGeom>
          <a:solidFill>
            <a:srgbClr val="FFF2CC"/>
          </a:solidFill>
          <a:ln w="9525">
            <a:solidFill>
              <a:srgbClr val="BF9000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IPSec Tunnel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169.255.1.0/30</a:t>
            </a:r>
            <a:endParaRPr lang="en-US" sz="1500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FGT 169.255.1.1</a:t>
            </a:r>
            <a:endParaRPr lang="en-US" sz="1500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PA 169.255.1.2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269115" name="shape"/>
          <p:cNvSpPr txBox="1"/>
          <p:nvPr/>
        </p:nvSpPr>
        <p:spPr>
          <a:xfrm>
            <a:off x="7543800" y="1691640"/>
            <a:ext cx="2743200" cy="1508760"/>
          </a:xfrm>
          <a:prstGeom prst="rect">
            <a:avLst/>
          </a:prstGeom>
          <a:solidFill>
            <a:srgbClr val="D9EAF7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Palo Alto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PA-DC</a:t>
            </a:r>
            <a:endParaRPr lang="en-US" sz="1500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WAN 203.0.113.20</a:t>
            </a:r>
            <a:endParaRPr lang="en-US" sz="1500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LAN 10.20.20.0/24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778970" name="shape"/>
          <p:cNvSpPr txBox="1"/>
          <p:nvPr/>
        </p:nvSpPr>
        <p:spPr>
          <a:xfrm>
            <a:off x="685800" y="5532120"/>
            <a:ext cx="10789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13873" name="shape"/>
          <p:cNvSpPr txBox="1"/>
          <p:nvPr/>
        </p:nvSpPr>
        <p:spPr>
          <a:xfrm>
            <a:off x="914400" y="5678424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b="1">
                <a:solidFill>
                  <a:srgbClr val="172033"/>
                </a:solidFill>
              </a:rPr>
              <a:t>Takeaway: The tunnel uses mirrored selectors: FortiGate local 10.10.10.0/24 to Palo Alto local 10.20.20.0/24.</a:t>
            </a:r>
            <a:endParaRPr lang="en-US" sz="1200" b="1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2 Required Parameters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12/18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630632" name="shape"/>
          <p:cNvSpPr txBox="1"/>
          <p:nvPr/>
        </p:nvSpPr>
        <p:spPr>
          <a:xfrm>
            <a:off x="68580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06150" name="shape"/>
          <p:cNvSpPr txBox="1"/>
          <p:nvPr/>
        </p:nvSpPr>
        <p:spPr>
          <a:xfrm>
            <a:off x="68580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45311" name="shape"/>
          <p:cNvSpPr txBox="1"/>
          <p:nvPr/>
        </p:nvSpPr>
        <p:spPr>
          <a:xfrm>
            <a:off x="91440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Network Parameters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564539" name="shape"/>
          <p:cNvSpPr txBox="1"/>
          <p:nvPr/>
        </p:nvSpPr>
        <p:spPr>
          <a:xfrm>
            <a:off x="91440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FortiGate WAN IP: 198.51.100.10.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Palo Alto WAN IP: 203.0.113.20.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FortiGate protected subnet: 10.10.10.0/24.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Palo Alto protected subnet: 10.20.20.0/24.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148089" name="shape"/>
          <p:cNvSpPr txBox="1"/>
          <p:nvPr/>
        </p:nvSpPr>
        <p:spPr>
          <a:xfrm>
            <a:off x="6080760" y="1234440"/>
            <a:ext cx="5074920" cy="4628515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72571" name="shape"/>
          <p:cNvSpPr txBox="1"/>
          <p:nvPr/>
        </p:nvSpPr>
        <p:spPr>
          <a:xfrm>
            <a:off x="608076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28700" name="shape"/>
          <p:cNvSpPr txBox="1"/>
          <p:nvPr/>
        </p:nvSpPr>
        <p:spPr>
          <a:xfrm>
            <a:off x="630936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Tunnel and Crypto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117889" name="shape"/>
          <p:cNvSpPr txBox="1"/>
          <p:nvPr/>
        </p:nvSpPr>
        <p:spPr>
          <a:xfrm>
            <a:off x="630936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endParaRPr 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endParaRPr 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endParaRPr 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endParaRPr 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800">
                <a:solidFill>
                  <a:srgbClr val="172033"/>
                </a:solidFill>
              </a:rPr>
              <a:t>Tunnel network: 169.255.1.0/30.</a:t>
            </a:r>
            <a:endParaRPr 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800">
                <a:solidFill>
                  <a:srgbClr val="172033"/>
                </a:solidFill>
              </a:rPr>
              <a:t>FortiGate tunnel IP: 169.255.1.1/30.</a:t>
            </a:r>
            <a:endParaRPr 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800">
                <a:solidFill>
                  <a:srgbClr val="172033"/>
                </a:solidFill>
              </a:rPr>
              <a:t>Palo Alto tunnel IP: 169.255.1.2/30.</a:t>
            </a:r>
            <a:endParaRPr 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endParaRPr 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IKE version:        IKEv2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Authentication:     Pre-shared key, or certificates if available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Phase 1 encryption: AES-256-GCM preferred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PRF:                SHA-256 or SHA-384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DH group:           Group 20, ECP384 preferred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Lifetime:           8 hours / 28,800 seconds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Phase 2 protocol:   ESP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Phase 2 encryption: AES-256-GCM preferred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PFS:                enabled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PFS group:          Group 20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Lifetime:           1 hour / 3,600 seconds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If AES-GCM compatibility is a problem, use this fallback: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IKE version:        IKEv2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Phase 1 encryption: AES-256-CBC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Phase 1 integrity:  SHA-256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DH group:           Group 14 minimum, Group 20 preferred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Lifetime:           28,800 seconds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Phase 2 protocol:   ESP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Phase 2 encryption: AES-256-CBC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Phase 2 integrity:  SHA-256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PFS:                enabled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PFS group:          Group 14 minimum, Group 20 preferred</a:t>
            </a:r>
            <a:endParaRPr lang="en-US" altLang="en-US" sz="80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altLang="en-US" sz="800">
                <a:solidFill>
                  <a:srgbClr val="172033"/>
                </a:solidFill>
              </a:rPr>
              <a:t>Lifetime:           3,600 seconds</a:t>
            </a:r>
            <a:endParaRPr lang="en-US" altLang="en-US" sz="80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>
            <a:scene3d>
              <a:camera prst="orthographicFront"/>
              <a:lightRig rig="threePt" dir="t"/>
            </a:scene3d>
          </a:bodyPr>
          <a:lstStyle/>
          <a:p>
            <a:endParaRPr>
              <a:ln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2 Tools and API Strategy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13/18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630632" name="shape"/>
          <p:cNvSpPr txBox="1"/>
          <p:nvPr/>
        </p:nvSpPr>
        <p:spPr>
          <a:xfrm>
            <a:off x="68580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06150" name="shape"/>
          <p:cNvSpPr txBox="1"/>
          <p:nvPr/>
        </p:nvSpPr>
        <p:spPr>
          <a:xfrm>
            <a:off x="68580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45311" name="shape"/>
          <p:cNvSpPr txBox="1"/>
          <p:nvPr/>
        </p:nvSpPr>
        <p:spPr>
          <a:xfrm>
            <a:off x="91440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FortiGate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564539" name="shape"/>
          <p:cNvSpPr txBox="1"/>
          <p:nvPr/>
        </p:nvSpPr>
        <p:spPr>
          <a:xfrm>
            <a:off x="91440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FortiOS REST CMDB endpoints for VPN Phase 1 and Phase 2.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REST endpoints for interfaces, address objects, policies, and routes.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Monitor API or SSH commands for tunnel state and route checks.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API token docs: docs.fortinet.com/.../administration-guide/940602/using-apis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REST API admin docs: docs.fortinet.com/.../administration-guide/399023/rest-api-administrator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148089" name="shape"/>
          <p:cNvSpPr txBox="1"/>
          <p:nvPr/>
        </p:nvSpPr>
        <p:spPr>
          <a:xfrm>
            <a:off x="608076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72571" name="shape"/>
          <p:cNvSpPr txBox="1"/>
          <p:nvPr/>
        </p:nvSpPr>
        <p:spPr>
          <a:xfrm>
            <a:off x="608076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28700" name="shape"/>
          <p:cNvSpPr txBox="1"/>
          <p:nvPr/>
        </p:nvSpPr>
        <p:spPr>
          <a:xfrm>
            <a:off x="630936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Palo Alto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117889" name="shape"/>
          <p:cNvSpPr txBox="1"/>
          <p:nvPr/>
        </p:nvSpPr>
        <p:spPr>
          <a:xfrm>
            <a:off x="630936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PAN-OS REST API for objects, tunnel interfaces, gateways, tunnels, routes, and policy.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XML API or Panorama for operational commands and commit workflows.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SSH remains a fallback for show/test commands.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REST API key docs: </a:t>
            </a:r>
            <a:r>
              <a:rPr lang="en-US" altLang="en-US" sz="1650">
                <a:solidFill>
                  <a:srgbClr val="172033"/>
                </a:solidFill>
              </a:rPr>
              <a:t>https://docs.paloaltonetworks.com/pan-os/11-1/pan-os-panorama-api/get-started-with-the-pan-os-rest-api</a:t>
            </a:r>
            <a:endParaRPr lang="en-US" alt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XML API key docs: docs.paloaltonetworks.com/.../get-your-api-key</a:t>
            </a:r>
            <a:endParaRPr lang="en-US" sz="1650">
              <a:solidFill>
                <a:srgbClr val="172033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20640"/>
            <a:ext cx="4617720" cy="2139950"/>
          </a:xfrm>
          <a:prstGeom prst="rect">
            <a:avLst/>
          </a:prstGeom>
        </p:spPr>
      </p:pic>
      <p:sp>
        <p:nvSpPr>
          <p:cNvPr id="501454" name="shape"/>
          <p:cNvSpPr txBox="1"/>
          <p:nvPr/>
        </p:nvSpPr>
        <p:spPr>
          <a:xfrm>
            <a:off x="5664200" y="5790565"/>
            <a:ext cx="2741930" cy="799465"/>
          </a:xfrm>
          <a:prstGeom prst="rect">
            <a:avLst/>
          </a:prstGeom>
          <a:solidFill>
            <a:srgbClr val="24496F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FFFFFF"/>
                </a:solidFill>
              </a:rPr>
              <a:t>EVE-NG would be simulator to test</a:t>
            </a:r>
            <a:endParaRPr lang="en-US" sz="165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2 Automation Flow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14/18</a:t>
            </a:r>
            <a:endParaRPr lang="en-US" sz="1000">
              <a:solidFill>
                <a:srgbClr val="D7DEEA"/>
              </a:solidFill>
            </a:endParaRPr>
          </a:p>
        </p:txBody>
      </p:sp>
      <p:cxnSp>
        <p:nvCxnSpPr>
          <p:cNvPr id="278932" name="connector"/>
          <p:cNvCxnSpPr/>
          <p:nvPr/>
        </p:nvCxnSpPr>
        <p:spPr>
          <a:xfrm>
            <a:off x="1920240" y="2359152"/>
            <a:ext cx="137159" cy="9144"/>
          </a:xfrm>
          <a:prstGeom prst="straightConnector1">
            <a:avLst/>
          </a:prstGeom>
          <a:ln w="19050">
            <a:solidFill>
              <a:srgbClr val="C55A11"/>
            </a:solidFill>
          </a:ln>
        </p:spPr>
      </p:cxnSp>
      <p:cxnSp>
        <p:nvCxnSpPr>
          <p:cNvPr id="538308" name="connector"/>
          <p:cNvCxnSpPr/>
          <p:nvPr/>
        </p:nvCxnSpPr>
        <p:spPr>
          <a:xfrm>
            <a:off x="3566160" y="2359152"/>
            <a:ext cx="137159" cy="9144"/>
          </a:xfrm>
          <a:prstGeom prst="straightConnector1">
            <a:avLst/>
          </a:prstGeom>
          <a:ln w="19050">
            <a:solidFill>
              <a:srgbClr val="C55A11"/>
            </a:solidFill>
          </a:ln>
        </p:spPr>
      </p:cxnSp>
      <p:cxnSp>
        <p:nvCxnSpPr>
          <p:cNvPr id="163234" name="connector"/>
          <p:cNvCxnSpPr/>
          <p:nvPr/>
        </p:nvCxnSpPr>
        <p:spPr>
          <a:xfrm>
            <a:off x="5212080" y="2359152"/>
            <a:ext cx="137159" cy="9144"/>
          </a:xfrm>
          <a:prstGeom prst="straightConnector1">
            <a:avLst/>
          </a:prstGeom>
          <a:ln w="19050">
            <a:solidFill>
              <a:srgbClr val="C55A11"/>
            </a:solidFill>
          </a:ln>
        </p:spPr>
      </p:cxnSp>
      <p:cxnSp>
        <p:nvCxnSpPr>
          <p:cNvPr id="736844" name="connector"/>
          <p:cNvCxnSpPr/>
          <p:nvPr/>
        </p:nvCxnSpPr>
        <p:spPr>
          <a:xfrm>
            <a:off x="6858000" y="2359152"/>
            <a:ext cx="137160" cy="9144"/>
          </a:xfrm>
          <a:prstGeom prst="straightConnector1">
            <a:avLst/>
          </a:prstGeom>
          <a:ln w="19050">
            <a:solidFill>
              <a:srgbClr val="C55A11"/>
            </a:solidFill>
          </a:ln>
        </p:spPr>
      </p:cxnSp>
      <p:cxnSp>
        <p:nvCxnSpPr>
          <p:cNvPr id="251068" name="connector"/>
          <p:cNvCxnSpPr/>
          <p:nvPr/>
        </p:nvCxnSpPr>
        <p:spPr>
          <a:xfrm>
            <a:off x="8503920" y="2359152"/>
            <a:ext cx="137159" cy="9144"/>
          </a:xfrm>
          <a:prstGeom prst="straightConnector1">
            <a:avLst/>
          </a:prstGeom>
          <a:ln w="19050">
            <a:solidFill>
              <a:srgbClr val="C55A11"/>
            </a:solidFill>
          </a:ln>
        </p:spPr>
      </p:cxnSp>
      <p:sp>
        <p:nvSpPr>
          <p:cNvPr id="154686" name="shape"/>
          <p:cNvSpPr txBox="1"/>
          <p:nvPr/>
        </p:nvSpPr>
        <p:spPr>
          <a:xfrm>
            <a:off x="411480" y="1828800"/>
            <a:ext cx="1508760" cy="1051560"/>
          </a:xfrm>
          <a:prstGeom prst="rect">
            <a:avLst/>
          </a:prstGeom>
          <a:solidFill>
            <a:srgbClr val="FFF2CC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1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Validate inputs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18677" name="shape"/>
          <p:cNvSpPr txBox="1"/>
          <p:nvPr/>
        </p:nvSpPr>
        <p:spPr>
          <a:xfrm>
            <a:off x="2057400" y="1828800"/>
            <a:ext cx="1508760" cy="1051560"/>
          </a:xfrm>
          <a:prstGeom prst="rect">
            <a:avLst/>
          </a:prstGeom>
          <a:solidFill>
            <a:srgbClr val="FFF2CC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2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Create objects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471079" name="shape"/>
          <p:cNvSpPr txBox="1"/>
          <p:nvPr/>
        </p:nvSpPr>
        <p:spPr>
          <a:xfrm>
            <a:off x="3703320" y="1828800"/>
            <a:ext cx="1508760" cy="1051560"/>
          </a:xfrm>
          <a:prstGeom prst="rect">
            <a:avLst/>
          </a:prstGeom>
          <a:solidFill>
            <a:srgbClr val="FFF2CC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3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Build tunnels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836299" name="shape"/>
          <p:cNvSpPr txBox="1"/>
          <p:nvPr/>
        </p:nvSpPr>
        <p:spPr>
          <a:xfrm>
            <a:off x="5349240" y="1828800"/>
            <a:ext cx="1508760" cy="1051560"/>
          </a:xfrm>
          <a:prstGeom prst="rect">
            <a:avLst/>
          </a:prstGeom>
          <a:solidFill>
            <a:srgbClr val="FFF2CC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4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Routes + policy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511614" name="shape"/>
          <p:cNvSpPr txBox="1"/>
          <p:nvPr/>
        </p:nvSpPr>
        <p:spPr>
          <a:xfrm>
            <a:off x="6995160" y="1828800"/>
            <a:ext cx="1508760" cy="1051560"/>
          </a:xfrm>
          <a:prstGeom prst="rect">
            <a:avLst/>
          </a:prstGeom>
          <a:solidFill>
            <a:srgbClr val="FFF2CC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5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Commit/apply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53896" name="shape"/>
          <p:cNvSpPr txBox="1"/>
          <p:nvPr/>
        </p:nvSpPr>
        <p:spPr>
          <a:xfrm>
            <a:off x="8641080" y="1828800"/>
            <a:ext cx="1737360" cy="1051560"/>
          </a:xfrm>
          <a:prstGeom prst="rect">
            <a:avLst/>
          </a:prstGeom>
          <a:solidFill>
            <a:srgbClr val="FFF2CC"/>
          </a:solidFill>
          <a:ln w="9525">
            <a:solidFill>
              <a:srgbClr val="2F5597"/>
            </a:solidFill>
          </a:ln>
        </p:spPr>
        <p:txBody>
          <a:bodyPr wrap="square" lIns="91440" tIns="45720" rIns="91440" bIns="45720" anchor="ctr"/>
          <a:lstStyle/>
          <a:p>
            <a:pPr algn="ctr"/>
            <a:r>
              <a:rPr lang="en-US" sz="1600" b="1">
                <a:solidFill>
                  <a:srgbClr val="172033"/>
                </a:solidFill>
              </a:rPr>
              <a:t>6</a:t>
            </a:r>
            <a:endParaRPr lang="en-US" sz="1600" b="1">
              <a:solidFill>
                <a:srgbClr val="172033"/>
              </a:solidFill>
            </a:endParaRPr>
          </a:p>
          <a:p>
            <a:pPr algn="ctr"/>
            <a:r>
              <a:rPr lang="en-US" sz="1500">
                <a:solidFill>
                  <a:srgbClr val="172033"/>
                </a:solidFill>
              </a:rPr>
              <a:t>Validate + alert</a:t>
            </a:r>
            <a:endParaRPr lang="en-US" sz="1500">
              <a:solidFill>
                <a:srgbClr val="172033"/>
              </a:solidFill>
            </a:endParaRPr>
          </a:p>
        </p:txBody>
      </p:sp>
      <p:sp>
        <p:nvSpPr>
          <p:cNvPr id="778970" name="shape"/>
          <p:cNvSpPr txBox="1"/>
          <p:nvPr/>
        </p:nvSpPr>
        <p:spPr>
          <a:xfrm>
            <a:off x="685800" y="5532120"/>
            <a:ext cx="10789920" cy="566928"/>
          </a:xfrm>
          <a:prstGeom prst="rect">
            <a:avLst/>
          </a:prstGeom>
          <a:solidFill>
            <a:srgbClr val="EEF3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13873" name="shape"/>
          <p:cNvSpPr txBox="1"/>
          <p:nvPr/>
        </p:nvSpPr>
        <p:spPr>
          <a:xfrm>
            <a:off x="914400" y="5678424"/>
            <a:ext cx="1028700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200" b="1">
                <a:solidFill>
                  <a:srgbClr val="172033"/>
                </a:solidFill>
              </a:rPr>
              <a:t>Takeaway: The plan is repeatable: validate, configure both vendors, commit/apply, then verify operational state.</a:t>
            </a:r>
            <a:endParaRPr lang="en-US" sz="1200" b="1">
              <a:solidFill>
                <a:srgbClr val="172033"/>
              </a:solidFill>
            </a:endParaRPr>
          </a:p>
        </p:txBody>
      </p:sp>
      <p:sp>
        <p:nvSpPr>
          <p:cNvPr id="2" name="shape"/>
          <p:cNvSpPr txBox="1"/>
          <p:nvPr/>
        </p:nvSpPr>
        <p:spPr>
          <a:xfrm>
            <a:off x="335280" y="3716655"/>
            <a:ext cx="6588760" cy="1375410"/>
          </a:xfrm>
          <a:prstGeom prst="rect">
            <a:avLst/>
          </a:prstGeom>
          <a:solidFill>
            <a:srgbClr val="24496F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FFFFFF"/>
                </a:solidFill>
              </a:rPr>
              <a:t>Define what is the platform - Paloalto or Forti</a:t>
            </a:r>
            <a:r>
              <a:rPr lang="en-US" sz="1650">
                <a:solidFill>
                  <a:srgbClr val="FFFFFF"/>
                </a:solidFill>
              </a:rPr>
              <a:t>net</a:t>
            </a:r>
            <a:endParaRPr lang="en-US" sz="1650">
              <a:solidFill>
                <a:srgbClr val="FFFFFF"/>
              </a:solidFill>
            </a:endParaRPr>
          </a:p>
        </p:txBody>
      </p:sp>
      <p:cxnSp>
        <p:nvCxnSpPr>
          <p:cNvPr id="3" name="connector"/>
          <p:cNvCxnSpPr/>
          <p:nvPr/>
        </p:nvCxnSpPr>
        <p:spPr>
          <a:xfrm flipV="1">
            <a:off x="982980" y="2853182"/>
            <a:ext cx="635" cy="935990"/>
          </a:xfrm>
          <a:prstGeom prst="straightConnector1">
            <a:avLst/>
          </a:prstGeom>
          <a:ln w="19050" cap="flat" cmpd="sng">
            <a:solidFill>
              <a:schemeClr val="accent1"/>
            </a:solidFill>
            <a:prstDash val="solid"/>
            <a:headEnd type="none"/>
            <a:tailEnd type="arrow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2 Multi-Vendor Considerations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15/18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630632" name="shape"/>
          <p:cNvSpPr txBox="1"/>
          <p:nvPr/>
        </p:nvSpPr>
        <p:spPr>
          <a:xfrm>
            <a:off x="68580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06150" name="shape"/>
          <p:cNvSpPr txBox="1"/>
          <p:nvPr/>
        </p:nvSpPr>
        <p:spPr>
          <a:xfrm>
            <a:off x="68580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45311" name="shape"/>
          <p:cNvSpPr txBox="1"/>
          <p:nvPr/>
        </p:nvSpPr>
        <p:spPr>
          <a:xfrm>
            <a:off x="91440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Common Failure Points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564539" name="shape"/>
          <p:cNvSpPr txBox="1"/>
          <p:nvPr/>
        </p:nvSpPr>
        <p:spPr>
          <a:xfrm>
            <a:off x="91440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Proxy-ID and traffic selector mismatch.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Phase 1 / Phase 2 proposal mismatch.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PFS or lifetime mismatch.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Missing static routes or asymmetric routing.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148089" name="shape"/>
          <p:cNvSpPr txBox="1"/>
          <p:nvPr/>
        </p:nvSpPr>
        <p:spPr>
          <a:xfrm>
            <a:off x="608076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72571" name="shape"/>
          <p:cNvSpPr txBox="1"/>
          <p:nvPr/>
        </p:nvSpPr>
        <p:spPr>
          <a:xfrm>
            <a:off x="608076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28700" name="shape"/>
          <p:cNvSpPr txBox="1"/>
          <p:nvPr/>
        </p:nvSpPr>
        <p:spPr>
          <a:xfrm>
            <a:off x="630936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Operational Considerations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117889" name="shape"/>
          <p:cNvSpPr txBox="1"/>
          <p:nvPr/>
        </p:nvSpPr>
        <p:spPr>
          <a:xfrm>
            <a:off x="630936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PAN-OS candidate configuration must be committed.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FortiGate and Palo Alto use different zone and policy models.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NAT-T and logging behavior should be aligned with the design.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Pre-shared keys must come from a secret manager.</a:t>
            </a:r>
            <a:endParaRPr lang="en-US" sz="165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2 Validation and Alerts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16/18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630632" name="shape"/>
          <p:cNvSpPr txBox="1"/>
          <p:nvPr/>
        </p:nvSpPr>
        <p:spPr>
          <a:xfrm>
            <a:off x="68580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06150" name="shape"/>
          <p:cNvSpPr txBox="1"/>
          <p:nvPr/>
        </p:nvSpPr>
        <p:spPr>
          <a:xfrm>
            <a:off x="68580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45311" name="shape"/>
          <p:cNvSpPr txBox="1"/>
          <p:nvPr/>
        </p:nvSpPr>
        <p:spPr>
          <a:xfrm>
            <a:off x="91440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Validation Methods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564539" name="shape"/>
          <p:cNvSpPr txBox="1"/>
          <p:nvPr/>
        </p:nvSpPr>
        <p:spPr>
          <a:xfrm>
            <a:off x="91440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FortiGate: get vpn ipsec tunnel summary.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FortiGate: diagnose vpn tunnel list and route lookup.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Palo Alto: show vpn ike-sa and show vpn ipsec-sa.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End-to-end ICMP or application traffic test.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148089" name="shape"/>
          <p:cNvSpPr txBox="1"/>
          <p:nvPr/>
        </p:nvSpPr>
        <p:spPr>
          <a:xfrm>
            <a:off x="608076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72571" name="shape"/>
          <p:cNvSpPr txBox="1"/>
          <p:nvPr/>
        </p:nvSpPr>
        <p:spPr>
          <a:xfrm>
            <a:off x="608076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28700" name="shape"/>
          <p:cNvSpPr txBox="1"/>
          <p:nvPr/>
        </p:nvSpPr>
        <p:spPr>
          <a:xfrm>
            <a:off x="630936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Alert Conditions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117889" name="shape"/>
          <p:cNvSpPr txBox="1"/>
          <p:nvPr/>
        </p:nvSpPr>
        <p:spPr>
          <a:xfrm>
            <a:off x="630936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VPN_DOWN.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PROXY_ID_MISMATCH.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PROPOSAL_MISMATCH.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ROUTE_MISSING.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POLICY_MISSING or COMMIT_PENDING.</a:t>
            </a:r>
            <a:endParaRPr lang="en-US" sz="165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Part 2 Repository Artifacts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17/18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630632" name="shape"/>
          <p:cNvSpPr txBox="1"/>
          <p:nvPr/>
        </p:nvSpPr>
        <p:spPr>
          <a:xfrm>
            <a:off x="68580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506150" name="shape"/>
          <p:cNvSpPr txBox="1"/>
          <p:nvPr/>
        </p:nvSpPr>
        <p:spPr>
          <a:xfrm>
            <a:off x="68580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645311" name="shape"/>
          <p:cNvSpPr txBox="1"/>
          <p:nvPr/>
        </p:nvSpPr>
        <p:spPr>
          <a:xfrm>
            <a:off x="91440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Planning Artifacts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564539" name="shape"/>
          <p:cNvSpPr txBox="1"/>
          <p:nvPr/>
        </p:nvSpPr>
        <p:spPr>
          <a:xfrm>
            <a:off x="91440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VPN_PLAN.md provides the written automation plan.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PART2_VPN_DELIVERABLES.md maps requirements to artifacts.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vpn_planner.py builds structured plan data.</a:t>
            </a:r>
            <a:endParaRPr lang="en-US" sz="1650">
              <a:solidFill>
                <a:srgbClr val="172033"/>
              </a:solidFill>
            </a:endParaRPr>
          </a:p>
        </p:txBody>
      </p:sp>
      <p:sp>
        <p:nvSpPr>
          <p:cNvPr id="148089" name="shape"/>
          <p:cNvSpPr txBox="1"/>
          <p:nvPr/>
        </p:nvSpPr>
        <p:spPr>
          <a:xfrm>
            <a:off x="6080760" y="1234440"/>
            <a:ext cx="5074920" cy="4069080"/>
          </a:xfrm>
          <a:prstGeom prst="rect">
            <a:avLst/>
          </a:prstGeom>
          <a:solidFill>
            <a:srgbClr val="F4F6F8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72571" name="shape"/>
          <p:cNvSpPr txBox="1"/>
          <p:nvPr/>
        </p:nvSpPr>
        <p:spPr>
          <a:xfrm>
            <a:off x="6080760" y="1234440"/>
            <a:ext cx="5074920" cy="502920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728700" name="shape"/>
          <p:cNvSpPr txBox="1"/>
          <p:nvPr/>
        </p:nvSpPr>
        <p:spPr>
          <a:xfrm>
            <a:off x="6309360" y="1371600"/>
            <a:ext cx="46177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300" b="1">
                <a:solidFill>
                  <a:srgbClr val="FFFFFF"/>
                </a:solidFill>
              </a:rPr>
              <a:t>Execution Examples</a:t>
            </a:r>
            <a:endParaRPr lang="en-US" sz="1300" b="1">
              <a:solidFill>
                <a:srgbClr val="FFFFFF"/>
              </a:solidFill>
            </a:endParaRPr>
          </a:p>
        </p:txBody>
      </p:sp>
      <p:sp>
        <p:nvSpPr>
          <p:cNvPr id="117889" name="shape"/>
          <p:cNvSpPr txBox="1"/>
          <p:nvPr/>
        </p:nvSpPr>
        <p:spPr>
          <a:xfrm>
            <a:off x="6309360" y="1965960"/>
            <a:ext cx="4617720" cy="3154680"/>
          </a:xfrm>
          <a:prstGeom prst="rect">
            <a:avLst/>
          </a:prstGeom>
          <a:solidFill>
            <a:srgbClr val="F4F6F8"/>
          </a:solidFill>
          <a:ln w="9525">
            <a:solidFill>
              <a:srgbClr val="F4F6F8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scripts/generate_vpn_plan.py prints the plan as JSON.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vpncliexamples/ stores FortiGate and Palo Alto conceptual CLI examples.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scripts/vpn_connectivity_check.py provides optional ICMP validation.</a:t>
            </a:r>
            <a:endParaRPr lang="en-US" sz="165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894" name="shape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20054" name="shape"/>
          <p:cNvSpPr txBox="1"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7365D"/>
          </a:solidFill>
          <a:ln w="9525">
            <a:solidFill>
              <a:srgbClr val="17365D"/>
            </a:solidFill>
          </a:ln>
        </p:spPr>
        <p:txBody>
          <a:bodyPr wrap="square" lIns="91440" tIns="45720" rIns="91440" bIns="45720" anchor="ctr"/>
          <a:lstStyle/>
          <a:p/>
        </p:txBody>
      </p:sp>
      <p:sp>
        <p:nvSpPr>
          <p:cNvPr id="478348" name="shape"/>
          <p:cNvSpPr txBox="1"/>
          <p:nvPr/>
        </p:nvSpPr>
        <p:spPr>
          <a:xfrm>
            <a:off x="502920" y="155448"/>
            <a:ext cx="9875520" cy="34747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800" b="1">
                <a:solidFill>
                  <a:srgbClr val="FFFFFF"/>
                </a:solidFill>
              </a:rPr>
              <a:t>Final Review Summary</a:t>
            </a:r>
            <a:endParaRPr lang="en-US" sz="1800" b="1">
              <a:solidFill>
                <a:srgbClr val="FFFFFF"/>
              </a:solidFill>
            </a:endParaRPr>
          </a:p>
        </p:txBody>
      </p:sp>
      <p:sp>
        <p:nvSpPr>
          <p:cNvPr id="630330" name="shape"/>
          <p:cNvSpPr txBox="1"/>
          <p:nvPr/>
        </p:nvSpPr>
        <p:spPr>
          <a:xfrm>
            <a:off x="10835640" y="182880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l"/>
            <a:r>
              <a:rPr lang="en-US" sz="1000">
                <a:solidFill>
                  <a:srgbClr val="D7DEEA"/>
                </a:solidFill>
              </a:rPr>
              <a:t>18/18</a:t>
            </a:r>
            <a:endParaRPr lang="en-US" sz="1000">
              <a:solidFill>
                <a:srgbClr val="D7DEEA"/>
              </a:solidFill>
            </a:endParaRPr>
          </a:p>
        </p:txBody>
      </p:sp>
      <p:sp>
        <p:nvSpPr>
          <p:cNvPr id="2267" name="shape"/>
          <p:cNvSpPr txBox="1"/>
          <p:nvPr/>
        </p:nvSpPr>
        <p:spPr>
          <a:xfrm>
            <a:off x="960120" y="1508760"/>
            <a:ext cx="9372600" cy="3474720"/>
          </a:xfrm>
          <a:prstGeom prst="rect">
            <a:avLst/>
          </a:prstGeom>
          <a:solidFill>
            <a:srgbClr val="D9EAF7"/>
          </a:solidFill>
          <a:ln w="9525">
            <a:solidFill>
              <a:srgbClr val="D8E1ED"/>
            </a:solidFill>
          </a:ln>
        </p:spPr>
        <p:txBody>
          <a:bodyPr wrap="square" lIns="91440" tIns="45720" rIns="91440" bIns="45720" anchor="ctr"/>
          <a:lstStyle/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Part 1 demonstrates working Cisco switch automation with Flask, GNS3 readiness, backup, and compliance validation.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Part 2 provides a complete FortiGate-to-Palo Alto IPSec VPN automation plan with structured code and example artifacts.</a:t>
            </a:r>
            <a:endParaRPr lang="en-US" sz="1650">
              <a:solidFill>
                <a:srgbClr val="172033"/>
              </a:solidFill>
            </a:endParaRPr>
          </a:p>
          <a:p>
            <a:pPr marL="285750" indent="-171450">
              <a:buChar char="•"/>
            </a:pPr>
            <a:r>
              <a:rPr lang="en-US" sz="1650">
                <a:solidFill>
                  <a:srgbClr val="172033"/>
                </a:solidFill>
              </a:rPr>
              <a:t>The repository includes setup documentation, test plan, requirement mapping, screenshot evidence, and CLI examples.</a:t>
            </a:r>
            <a:endParaRPr lang="en-US" sz="1650">
              <a:solidFill>
                <a:srgbClr val="17203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mal">
  <a:themeElements>
    <a:clrScheme name="Formal">
      <a:dk1>
        <a:srgbClr val="000000"/>
      </a:dk1>
      <a:lt1>
        <a:srgbClr val="FFFFFF"/>
      </a:lt1>
      <a:dk2>
        <a:srgbClr val="17365D"/>
      </a:dk2>
      <a:lt2>
        <a:srgbClr val="F4F6F8"/>
      </a:lt2>
      <a:accent1>
        <a:srgbClr val="2F5597"/>
      </a:accent1>
      <a:accent2>
        <a:srgbClr val="C55A11"/>
      </a:accent2>
      <a:accent3>
        <a:srgbClr val="548235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Formal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Formal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  <a:ln/>
        <a:ln/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7673</Words>
  <Application>WPS Docs</Application>
  <PresentationFormat>On-screen Show (16:9)</PresentationFormat>
  <Paragraphs>328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SimSun</vt:lpstr>
      <vt:lpstr>Wingdings</vt:lpstr>
      <vt:lpstr>Aptos</vt:lpstr>
      <vt:lpstr>Helvetica Neue</vt:lpstr>
      <vt:lpstr>Microsoft YaHei</vt:lpstr>
      <vt:lpstr>汉仪旗黑</vt:lpstr>
      <vt:lpstr>Arial Unicode MS</vt:lpstr>
      <vt:lpstr>Calibri</vt:lpstr>
      <vt:lpstr>汉仪书宋二KW</vt:lpstr>
      <vt:lpstr>Formal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Cisco IOS Automation and VPN Planning</dc:title>
  <dc:creator>Codex</dc:creator>
  <cp:lastModifiedBy>MelodyWj0423</cp:lastModifiedBy>
  <cp:revision>3</cp:revision>
  <dcterms:created xsi:type="dcterms:W3CDTF">2026-05-15T03:15:39Z</dcterms:created>
  <dcterms:modified xsi:type="dcterms:W3CDTF">2026-05-15T03:15:39Z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1033-12.1.25869.25869</vt:lpwstr>
  </property>
  <property fmtid="{D5CDD505-2E9C-101B-9397-08002B2CF9AE}" pid="3" name="ICV">
    <vt:lpwstr>8DD2678435C1243027C6056AB38F688F_42</vt:lpwstr>
  </property>
</Properties>
</file>